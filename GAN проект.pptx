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5bd6223c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e5bd6223c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e5bd6223c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e5bd6223c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e5c353416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e5c353416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e5bd6223ca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e5bd6223ca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e5bd6223ca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e5bd6223ca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e5bd6223ca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e5bd6223ca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uk" sz="3780"/>
              <a:t>Створення синтетичних прикладів поведінки шкідливого програмного забезпечення через GAN</a:t>
            </a:r>
            <a:endParaRPr sz="378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uk"/>
              <a:t>Сванідзе Каха</a:t>
            </a:r>
            <a:br>
              <a:rPr lang="uk"/>
            </a:br>
            <a:r>
              <a:rPr lang="uk"/>
              <a:t>Головко </a:t>
            </a:r>
            <a:r>
              <a:rPr lang="uk"/>
              <a:t>Володимир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/>
              <a:t>Що таке GAN?</a:t>
            </a:r>
            <a:endParaRPr/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60925" y="950188"/>
            <a:ext cx="3271382" cy="38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4817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uk" sz="1900"/>
              <a:t>Генеративні змагальн</a:t>
            </a:r>
            <a:r>
              <a:rPr b="1" lang="uk" sz="1900"/>
              <a:t>і</a:t>
            </a:r>
            <a:r>
              <a:rPr b="1" lang="uk" sz="1900"/>
              <a:t> мережі </a:t>
            </a:r>
            <a:r>
              <a:rPr lang="uk" sz="1900"/>
              <a:t>(англ. Generative adversarial network) це клас алгоритмів штучного інтелекту, що використовуються в некерованому навчанні, реалізовані системою двох штучних нейронних мереж (генератор та дискримінатор), які змагаються одна з одною в рамках гри з нульовою сумою.</a:t>
            </a:r>
            <a:endParaRPr sz="2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/>
              <a:t>Суть проекту</a:t>
            </a:r>
            <a:endParaRPr/>
          </a:p>
        </p:txBody>
      </p:sp>
      <p:sp>
        <p:nvSpPr>
          <p:cNvPr id="68" name="Google Shape;68;p15"/>
          <p:cNvSpPr txBox="1"/>
          <p:nvPr/>
        </p:nvSpPr>
        <p:spPr>
          <a:xfrm>
            <a:off x="463650" y="1144625"/>
            <a:ext cx="6230100" cy="3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uk" sz="1800">
                <a:solidFill>
                  <a:schemeClr val="dk2"/>
                </a:solidFill>
              </a:rPr>
              <a:t>Навчити ML-модель на не </a:t>
            </a:r>
            <a:r>
              <a:rPr lang="uk" sz="1800">
                <a:solidFill>
                  <a:schemeClr val="dk2"/>
                </a:solidFill>
              </a:rPr>
              <a:t>збалансованому</a:t>
            </a:r>
            <a:r>
              <a:rPr lang="uk" sz="1800">
                <a:solidFill>
                  <a:schemeClr val="dk2"/>
                </a:solidFill>
              </a:rPr>
              <a:t> наборі реальних даних.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uk" sz="1800">
                <a:solidFill>
                  <a:schemeClr val="dk2"/>
                </a:solidFill>
              </a:rPr>
              <a:t>Розробити GAN-модель, використовуючи набір реальних даних як орієнтир.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uk" sz="1800">
                <a:solidFill>
                  <a:schemeClr val="dk2"/>
                </a:solidFill>
              </a:rPr>
              <a:t>Перенавчити ML-модель, використовуючи збалансований набір даних.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uk" sz="1800">
                <a:solidFill>
                  <a:schemeClr val="dk2"/>
                </a:solidFill>
              </a:rPr>
              <a:t>Результат обчислити за вимірюванням RMSE(середньоквадратичне відхилення).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uk" sz="1800">
                <a:solidFill>
                  <a:schemeClr val="dk2"/>
                </a:solidFill>
              </a:rPr>
              <a:t>Порівняти результати до та після.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3215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uk"/>
              <a:t>Набір тренувальних даних містить гістограму поведінки програмного </a:t>
            </a:r>
            <a:r>
              <a:rPr lang="uk"/>
              <a:t>забезпечення. Цей набір не є збалансованим, маючи більше прикладів поведінки нормального ніж шкідливого ПЗ (3000:1465).</a:t>
            </a:r>
            <a:endParaRPr/>
          </a:p>
        </p:txBody>
      </p:sp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/>
              <a:t>Вхідні дані</a:t>
            </a:r>
            <a:endParaRPr/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69575" y="1152475"/>
            <a:ext cx="4665700" cy="3228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/>
              <a:t>Початкові результати</a:t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152475"/>
            <a:ext cx="4585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uk"/>
              <a:t>Після спроби тренування ML-моделі на </a:t>
            </a:r>
            <a:r>
              <a:rPr lang="uk"/>
              <a:t>незбалансованих</a:t>
            </a:r>
            <a:r>
              <a:rPr lang="uk"/>
              <a:t> даних, можна побачити </a:t>
            </a:r>
            <a:r>
              <a:rPr lang="uk"/>
              <a:t>невпевненість</a:t>
            </a:r>
            <a:r>
              <a:rPr lang="uk"/>
              <a:t> у частині передбачень моделі стосовно типу поведінки ПЗ.</a:t>
            </a:r>
            <a:endParaRPr/>
          </a:p>
        </p:txBody>
      </p:sp>
      <p:pic>
        <p:nvPicPr>
          <p:cNvPr id="82" name="Google Shape;8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97300" y="1152475"/>
            <a:ext cx="2900431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97300" y="1859925"/>
            <a:ext cx="2900425" cy="306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/>
              <a:t>Спосіб вирішення</a:t>
            </a:r>
            <a:endParaRPr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1152475"/>
            <a:ext cx="3581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uk"/>
              <a:t>Генератор створює приклади шкідливого ПЗ, а дискримінатор їх перевіряє. </a:t>
            </a:r>
            <a:r>
              <a:rPr lang="uk"/>
              <a:t>Таким чином генератор тренується створювати більш реалістичні дані до реальних прикладів шкідливого ПЗ.</a:t>
            </a:r>
            <a:endParaRPr/>
          </a:p>
        </p:txBody>
      </p:sp>
      <p:pic>
        <p:nvPicPr>
          <p:cNvPr id="90" name="Google Shape;9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89075" y="1257700"/>
            <a:ext cx="4757800" cy="212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/>
              <a:t>Результати</a:t>
            </a:r>
            <a:endParaRPr/>
          </a:p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1094525"/>
            <a:ext cx="4860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uk"/>
              <a:t>Після генерації синтетичних даних завдяки GAN-моделі, ML-модель стала більш </a:t>
            </a:r>
            <a:r>
              <a:rPr lang="uk"/>
              <a:t>впевненою</a:t>
            </a:r>
            <a:r>
              <a:rPr lang="uk"/>
              <a:t> у передбаченнях поведінки, а RMSE у порівнянні стало меншим.</a:t>
            </a:r>
            <a:endParaRPr/>
          </a:p>
        </p:txBody>
      </p:sp>
      <p:pic>
        <p:nvPicPr>
          <p:cNvPr id="97" name="Google Shape;9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49125" y="1132875"/>
            <a:ext cx="2614825" cy="737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11850" y="1985552"/>
            <a:ext cx="2689375" cy="30965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